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15" Target="../media/image44.png" Type="http://schemas.openxmlformats.org/officeDocument/2006/relationships/image"/><Relationship Id="rId16" Target="../media/image45.png" Type="http://schemas.openxmlformats.org/officeDocument/2006/relationships/image"/><Relationship Id="rId17" Target="../media/image46.png" Type="http://schemas.openxmlformats.org/officeDocument/2006/relationships/image"/><Relationship Id="rId18" Target="../media/image47.png" Type="http://schemas.openxmlformats.org/officeDocument/2006/relationships/image"/><Relationship Id="rId19" Target="../media/image48.png" Type="http://schemas.openxmlformats.org/officeDocument/2006/relationships/image"/><Relationship Id="rId2" Target="../media/image31.png" Type="http://schemas.openxmlformats.org/officeDocument/2006/relationships/image"/><Relationship Id="rId20" Target="../media/image49.png" Type="http://schemas.openxmlformats.org/officeDocument/2006/relationships/image"/><Relationship Id="rId21" Target="../media/image50.png" Type="http://schemas.openxmlformats.org/officeDocument/2006/relationships/image"/><Relationship Id="rId22" Target="../media/image51.png" Type="http://schemas.openxmlformats.org/officeDocument/2006/relationships/image"/><Relationship Id="rId23" Target="../media/image52.png" Type="http://schemas.openxmlformats.org/officeDocument/2006/relationships/image"/><Relationship Id="rId24" Target="../media/image53.png" Type="http://schemas.openxmlformats.org/officeDocument/2006/relationships/image"/><Relationship Id="rId25" Target="../media/image54.png" Type="http://schemas.openxmlformats.org/officeDocument/2006/relationships/image"/><Relationship Id="rId26" Target="../media/image55.png" Type="http://schemas.openxmlformats.org/officeDocument/2006/relationships/image"/><Relationship Id="rId27" Target="../media/image56.png" Type="http://schemas.openxmlformats.org/officeDocument/2006/relationships/image"/><Relationship Id="rId28" Target="../media/image57.png" Type="http://schemas.openxmlformats.org/officeDocument/2006/relationships/image"/><Relationship Id="rId29" Target="../media/image58.png" Type="http://schemas.openxmlformats.org/officeDocument/2006/relationships/image"/><Relationship Id="rId3" Target="../media/image32.png" Type="http://schemas.openxmlformats.org/officeDocument/2006/relationships/image"/><Relationship Id="rId30" Target="../media/image59.png" Type="http://schemas.openxmlformats.org/officeDocument/2006/relationships/image"/><Relationship Id="rId31" Target="../media/image60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png" Type="http://schemas.openxmlformats.org/officeDocument/2006/relationships/image"/><Relationship Id="rId12" Target="../media/image71.png" Type="http://schemas.openxmlformats.org/officeDocument/2006/relationships/image"/><Relationship Id="rId13" Target="../media/image72.png" Type="http://schemas.openxmlformats.org/officeDocument/2006/relationships/image"/><Relationship Id="rId14" Target="../media/image73.png" Type="http://schemas.openxmlformats.org/officeDocument/2006/relationships/image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8622" y="1071335"/>
            <a:ext cx="11539378" cy="4930326"/>
          </a:xfrm>
          <a:custGeom>
            <a:avLst/>
            <a:gdLst/>
            <a:ahLst/>
            <a:cxnLst/>
            <a:rect r="r" b="b" t="t" l="l"/>
            <a:pathLst>
              <a:path h="4930326" w="11539378">
                <a:moveTo>
                  <a:pt x="0" y="0"/>
                </a:moveTo>
                <a:lnTo>
                  <a:pt x="11539378" y="0"/>
                </a:lnTo>
                <a:lnTo>
                  <a:pt x="1153937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0574" y="426348"/>
            <a:ext cx="8072096" cy="9860652"/>
          </a:xfrm>
          <a:custGeom>
            <a:avLst/>
            <a:gdLst/>
            <a:ahLst/>
            <a:cxnLst/>
            <a:rect r="r" b="b" t="t" l="l"/>
            <a:pathLst>
              <a:path h="9860652" w="8072096">
                <a:moveTo>
                  <a:pt x="0" y="0"/>
                </a:moveTo>
                <a:lnTo>
                  <a:pt x="8072096" y="0"/>
                </a:lnTo>
                <a:lnTo>
                  <a:pt x="8072096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0244" y="2135079"/>
            <a:ext cx="8627209" cy="160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0"/>
              </a:lnSpc>
            </a:pPr>
            <a:r>
              <a:rPr lang="en-US" sz="12050" spc="-482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Track Trends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9916" y="3520676"/>
            <a:ext cx="5696635" cy="160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0"/>
              </a:lnSpc>
            </a:pPr>
            <a:r>
              <a:rPr lang="en-US" sz="12050" spc="-482" b="true">
                <a:solidFill>
                  <a:srgbClr val="13BD32"/>
                </a:solidFill>
                <a:latin typeface="Roboto Bold"/>
                <a:ea typeface="Roboto Bold"/>
                <a:cs typeface="Roboto Bold"/>
                <a:sym typeface="Roboto Bold"/>
              </a:rPr>
              <a:t>Analyser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356674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3950" y="5912118"/>
            <a:ext cx="6293310" cy="125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16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Real-Time Music Analytics &amp; Performance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518" y="7965928"/>
            <a:ext cx="8836447" cy="183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8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PRESENTED BY :</a:t>
            </a:r>
          </a:p>
          <a:p>
            <a:pPr algn="l">
              <a:lnSpc>
                <a:spcPts val="2457"/>
              </a:lnSpc>
            </a:pPr>
            <a:r>
              <a:rPr lang="en-US" sz="2047" spc="-8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25071A6214</a:t>
            </a:r>
          </a:p>
          <a:p>
            <a:pPr algn="l">
              <a:lnSpc>
                <a:spcPts val="2457"/>
              </a:lnSpc>
            </a:pPr>
            <a:r>
              <a:rPr lang="en-US" sz="2047" spc="-8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25071A6215</a:t>
            </a:r>
          </a:p>
          <a:p>
            <a:pPr algn="l">
              <a:lnSpc>
                <a:spcPts val="2457"/>
              </a:lnSpc>
            </a:pPr>
            <a:r>
              <a:rPr lang="en-US" sz="2047" spc="-8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25071A6220</a:t>
            </a:r>
          </a:p>
          <a:p>
            <a:pPr algn="l">
              <a:lnSpc>
                <a:spcPts val="2457"/>
              </a:lnSpc>
            </a:pPr>
            <a:r>
              <a:rPr lang="en-US" sz="2047" spc="-8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25071A6223</a:t>
            </a:r>
          </a:p>
          <a:p>
            <a:pPr algn="l">
              <a:lnSpc>
                <a:spcPts val="2457"/>
              </a:lnSpc>
            </a:pPr>
            <a:r>
              <a:rPr lang="en-US" sz="2047" spc="-8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Department of Computer Science -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8976" y="0"/>
            <a:ext cx="10019024" cy="10287000"/>
          </a:xfrm>
          <a:custGeom>
            <a:avLst/>
            <a:gdLst/>
            <a:ahLst/>
            <a:cxnLst/>
            <a:rect r="r" b="b" t="t" l="l"/>
            <a:pathLst>
              <a:path h="10287000" w="10019024">
                <a:moveTo>
                  <a:pt x="0" y="0"/>
                </a:moveTo>
                <a:lnTo>
                  <a:pt x="10019024" y="0"/>
                </a:lnTo>
                <a:lnTo>
                  <a:pt x="10019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5632" y="1440144"/>
            <a:ext cx="7519563" cy="128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636" spc="-287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 &amp;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4043" y="2735376"/>
            <a:ext cx="5678504" cy="128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636" spc="-287" b="true">
                <a:solidFill>
                  <a:srgbClr val="09B03F"/>
                </a:solidFill>
                <a:latin typeface="Roboto Bold"/>
                <a:ea typeface="Roboto Bold"/>
                <a:cs typeface="Roboto Bold"/>
                <a:sym typeface="Roboto Bold"/>
              </a:rPr>
              <a:t>Motivation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4285339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0011" y="4968821"/>
            <a:ext cx="6081697" cy="8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82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Real-time analytics turns streaming data into </a:t>
            </a:r>
            <a:r>
              <a:rPr lang="en-US" sz="2759" spc="-82">
                <a:solidFill>
                  <a:srgbClr val="09B03F"/>
                </a:solidFill>
                <a:latin typeface="Roboto"/>
                <a:ea typeface="Roboto"/>
                <a:cs typeface="Roboto"/>
                <a:sym typeface="Roboto"/>
              </a:rPr>
              <a:t>immediate, actionable</a:t>
            </a:r>
            <a:r>
              <a:rPr lang="en-US" sz="2759" spc="-82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 insights.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491" y="6279114"/>
            <a:ext cx="4633672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>
                <a:solidFill>
                  <a:srgbClr val="919191"/>
                </a:solidFill>
                <a:latin typeface="Roboto"/>
                <a:ea typeface="Roboto"/>
                <a:cs typeface="Roboto"/>
                <a:sym typeface="Roboto"/>
              </a:rPr>
              <a:t>Track music trends as they happen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6472" y="7002035"/>
            <a:ext cx="5435620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>
                <a:solidFill>
                  <a:srgbClr val="919191"/>
                </a:solidFill>
                <a:latin typeface="Roboto"/>
                <a:ea typeface="Roboto"/>
                <a:cs typeface="Roboto"/>
                <a:sym typeface="Roboto"/>
              </a:rPr>
              <a:t>Move beyond static CSVs to live API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232" y="7724955"/>
            <a:ext cx="6159606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>
                <a:solidFill>
                  <a:srgbClr val="919191"/>
                </a:solidFill>
                <a:latin typeface="Roboto"/>
                <a:ea typeface="Roboto"/>
                <a:cs typeface="Roboto"/>
                <a:sym typeface="Roboto"/>
              </a:rPr>
              <a:t>Understand popularity, engagement, and reach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390" y="8447875"/>
            <a:ext cx="7243854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>
                <a:solidFill>
                  <a:srgbClr val="919191"/>
                </a:solidFill>
                <a:latin typeface="Roboto"/>
                <a:ea typeface="Roboto"/>
                <a:cs typeface="Roboto"/>
                <a:sym typeface="Roboto"/>
              </a:rPr>
              <a:t>Make faster, smarter decisions with up-to-date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695" y="468077"/>
            <a:ext cx="8387558" cy="19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2"/>
              </a:lnSpc>
            </a:pPr>
            <a:r>
              <a:rPr lang="en-US" sz="6662" spc="-19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 &amp; Workflow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7399" y="2862783"/>
            <a:ext cx="6517139" cy="84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311" spc="-68">
                <a:solidFill>
                  <a:srgbClr val="1DB443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real-time pipeline</a:t>
            </a:r>
            <a:r>
              <a:rPr lang="en-US" sz="2311" spc="-68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that connects Spotify data to interactive performance insights.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4801694" cy="2590881"/>
          </a:xfrm>
          <a:custGeom>
            <a:avLst/>
            <a:gdLst/>
            <a:ahLst/>
            <a:cxnLst/>
            <a:rect r="r" b="b" t="t" l="l"/>
            <a:pathLst>
              <a:path h="2590881" w="4801694">
                <a:moveTo>
                  <a:pt x="0" y="0"/>
                </a:moveTo>
                <a:lnTo>
                  <a:pt x="4801694" y="0"/>
                </a:lnTo>
                <a:lnTo>
                  <a:pt x="4801694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1909" y="4691071"/>
            <a:ext cx="2714269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80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Spotify Web 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5464" y="5276898"/>
            <a:ext cx="2892691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Streams music, track,</a:t>
            </a:r>
          </a:p>
          <a:p>
            <a:pPr algn="ctr">
              <a:lnSpc>
                <a:spcPts val="2794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artist data in real time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9866" y="3848060"/>
            <a:ext cx="4801694" cy="2590881"/>
          </a:xfrm>
          <a:custGeom>
            <a:avLst/>
            <a:gdLst/>
            <a:ahLst/>
            <a:cxnLst/>
            <a:rect r="r" b="b" t="t" l="l"/>
            <a:pathLst>
              <a:path h="2590881" w="4801694">
                <a:moveTo>
                  <a:pt x="0" y="0"/>
                </a:moveTo>
                <a:lnTo>
                  <a:pt x="4801694" y="0"/>
                </a:lnTo>
                <a:lnTo>
                  <a:pt x="4801694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10438" y="4691071"/>
            <a:ext cx="2923663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80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Node.js / Express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99410" y="5276898"/>
            <a:ext cx="2953221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Handles OAuth 2.0 tokens and API requests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184708" y="3848060"/>
            <a:ext cx="5020450" cy="2590881"/>
          </a:xfrm>
          <a:custGeom>
            <a:avLst/>
            <a:gdLst/>
            <a:ahLst/>
            <a:cxnLst/>
            <a:rect r="r" b="b" t="t" l="l"/>
            <a:pathLst>
              <a:path h="2590881" w="5020450">
                <a:moveTo>
                  <a:pt x="0" y="0"/>
                </a:moveTo>
                <a:lnTo>
                  <a:pt x="5020450" y="0"/>
                </a:lnTo>
                <a:lnTo>
                  <a:pt x="5020450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452925" y="4691071"/>
            <a:ext cx="2465142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80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Browser Client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83173" y="5276898"/>
            <a:ext cx="2959640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Renders interactive charts with Chart.js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436086" y="4919394"/>
            <a:ext cx="1104718" cy="448211"/>
          </a:xfrm>
          <a:custGeom>
            <a:avLst/>
            <a:gdLst/>
            <a:ahLst/>
            <a:cxnLst/>
            <a:rect r="r" b="b" t="t" l="l"/>
            <a:pathLst>
              <a:path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20622" y="4919394"/>
            <a:ext cx="875024" cy="448211"/>
          </a:xfrm>
          <a:custGeom>
            <a:avLst/>
            <a:gdLst/>
            <a:ahLst/>
            <a:cxnLst/>
            <a:rect r="r" b="b" t="t" l="l"/>
            <a:pathLst>
              <a:path h="448211" w="875024">
                <a:moveTo>
                  <a:pt x="0" y="0"/>
                </a:moveTo>
                <a:lnTo>
                  <a:pt x="875024" y="0"/>
                </a:lnTo>
                <a:lnTo>
                  <a:pt x="87502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654842" y="6209369"/>
            <a:ext cx="6322048" cy="863627"/>
          </a:xfrm>
          <a:custGeom>
            <a:avLst/>
            <a:gdLst/>
            <a:ahLst/>
            <a:cxnLst/>
            <a:rect r="r" b="b" t="t" l="l"/>
            <a:pathLst>
              <a:path h="863627" w="6322048">
                <a:moveTo>
                  <a:pt x="0" y="0"/>
                </a:moveTo>
                <a:lnTo>
                  <a:pt x="6322048" y="0"/>
                </a:lnTo>
                <a:lnTo>
                  <a:pt x="6322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78220" y="7062064"/>
            <a:ext cx="5020450" cy="2798589"/>
          </a:xfrm>
          <a:custGeom>
            <a:avLst/>
            <a:gdLst/>
            <a:ahLst/>
            <a:cxnLst/>
            <a:rect r="r" b="b" t="t" l="l"/>
            <a:pathLst>
              <a:path h="2798589" w="5020450">
                <a:moveTo>
                  <a:pt x="0" y="0"/>
                </a:moveTo>
                <a:lnTo>
                  <a:pt x="5020450" y="0"/>
                </a:lnTo>
                <a:lnTo>
                  <a:pt x="502045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92776" y="7219858"/>
            <a:ext cx="2476492" cy="26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b="true" sz="1494" spc="-44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BACKEND TECHNOLOGIES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71777" y="7827809"/>
            <a:ext cx="1250444" cy="162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Node.js</a:t>
            </a:r>
          </a:p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Express.js</a:t>
            </a:r>
          </a:p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Axios</a:t>
            </a:r>
          </a:p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Dotenv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351818" y="7062064"/>
            <a:ext cx="4801694" cy="2798589"/>
          </a:xfrm>
          <a:custGeom>
            <a:avLst/>
            <a:gdLst/>
            <a:ahLst/>
            <a:cxnLst/>
            <a:rect r="r" b="b" t="t" l="l"/>
            <a:pathLst>
              <a:path h="2798589" w="4801694">
                <a:moveTo>
                  <a:pt x="0" y="0"/>
                </a:moveTo>
                <a:lnTo>
                  <a:pt x="4801694" y="0"/>
                </a:lnTo>
                <a:lnTo>
                  <a:pt x="480169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38313" y="7219858"/>
            <a:ext cx="2597558" cy="26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b="true" sz="1494" spc="-44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FRONTEND TECHNOLOGIES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38637" y="7827809"/>
            <a:ext cx="3596909" cy="162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HTML5</a:t>
            </a:r>
          </a:p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CSS3 (dark theme)</a:t>
            </a:r>
          </a:p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Vanilla JS ES6+</a:t>
            </a:r>
          </a:p>
          <a:p>
            <a:pPr algn="ctr">
              <a:lnSpc>
                <a:spcPts val="3278"/>
              </a:lnSpc>
            </a:pPr>
            <a:r>
              <a:rPr lang="en-US" sz="1986" spc="-5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Chart.js (radar and bar charts)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41200" y="4072142"/>
            <a:ext cx="2262139" cy="26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b="true" sz="1494" spc="-44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BACKEND MIDDLEWARE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98572" y="4072142"/>
            <a:ext cx="1973849" cy="26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b="true" sz="1494" spc="-44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CLIENT APPLICATION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67200" y="4072142"/>
            <a:ext cx="1369219" cy="26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b="true" sz="1494" spc="-44">
                <a:solidFill>
                  <a:srgbClr val="1DB443"/>
                </a:solidFill>
                <a:latin typeface="Roboto Bold"/>
                <a:ea typeface="Roboto Bold"/>
                <a:cs typeface="Roboto Bold"/>
                <a:sym typeface="Roboto Bold"/>
              </a:rPr>
              <a:t>DATA SOURCE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8224" y="720079"/>
            <a:ext cx="8223717" cy="222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1"/>
              </a:lnSpc>
            </a:pPr>
            <a:r>
              <a:rPr lang="en-US" sz="8240" spc="-245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Key Metrics &amp; Acoustic 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421712"/>
            <a:ext cx="8072096" cy="1508614"/>
          </a:xfrm>
          <a:custGeom>
            <a:avLst/>
            <a:gdLst/>
            <a:ahLst/>
            <a:cxnLst/>
            <a:rect r="r" b="b" t="t" l="l"/>
            <a:pathLst>
              <a:path h="1508614" w="8072096">
                <a:moveTo>
                  <a:pt x="0" y="0"/>
                </a:moveTo>
                <a:lnTo>
                  <a:pt x="8072096" y="0"/>
                </a:lnTo>
                <a:lnTo>
                  <a:pt x="8072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8635" y="3925187"/>
            <a:ext cx="1687232" cy="62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666" spc="-139" b="true">
                <a:solidFill>
                  <a:srgbClr val="0DB849"/>
                </a:solidFill>
                <a:latin typeface="Roboto Bold"/>
                <a:ea typeface="Roboto Bold"/>
                <a:cs typeface="Roboto Bold"/>
                <a:sym typeface="Roboto Bold"/>
              </a:rPr>
              <a:t>0–100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259464" y="3640352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29304" y="3848783"/>
            <a:ext cx="211647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Popularity Index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4711687"/>
            <a:ext cx="8072096" cy="1289974"/>
          </a:xfrm>
          <a:custGeom>
            <a:avLst/>
            <a:gdLst/>
            <a:ahLst/>
            <a:cxnLst/>
            <a:rect r="r" b="b" t="t" l="l"/>
            <a:pathLst>
              <a:path h="1289974" w="8072096">
                <a:moveTo>
                  <a:pt x="0" y="0"/>
                </a:moveTo>
                <a:lnTo>
                  <a:pt x="8072096" y="0"/>
                </a:lnTo>
                <a:lnTo>
                  <a:pt x="8072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4979" y="5114994"/>
            <a:ext cx="1052847" cy="62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666" spc="-139" b="true">
                <a:solidFill>
                  <a:srgbClr val="0DB849"/>
                </a:solidFill>
                <a:latin typeface="Roboto Bold"/>
                <a:ea typeface="Roboto Bold"/>
                <a:cs typeface="Roboto Bold"/>
                <a:sym typeface="Roboto Bold"/>
              </a:rPr>
              <a:t>Live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259464" y="491939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4674" y="5038589"/>
            <a:ext cx="2579440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Estimated Listeners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2027" y="5445232"/>
            <a:ext cx="3844179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real-time global audience estimate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5990729"/>
            <a:ext cx="8072096" cy="1300906"/>
          </a:xfrm>
          <a:custGeom>
            <a:avLst/>
            <a:gdLst/>
            <a:ahLst/>
            <a:cxnLst/>
            <a:rect r="r" b="b" t="t" l="l"/>
            <a:pathLst>
              <a:path h="1300906" w="8072096">
                <a:moveTo>
                  <a:pt x="0" y="0"/>
                </a:moveTo>
                <a:lnTo>
                  <a:pt x="8072096" y="0"/>
                </a:lnTo>
                <a:lnTo>
                  <a:pt x="807209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2183" y="6319861"/>
            <a:ext cx="1332519" cy="62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666" spc="-139" b="true">
                <a:solidFill>
                  <a:srgbClr val="0DB849"/>
                </a:solidFill>
                <a:latin typeface="Roboto Bold"/>
                <a:ea typeface="Roboto Bold"/>
                <a:cs typeface="Roboto Bold"/>
                <a:sym typeface="Roboto Bold"/>
              </a:rPr>
              <a:t>Ratio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259464" y="6209369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720417" y="6243457"/>
            <a:ext cx="3005205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Audience Engagement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30993" y="6650100"/>
            <a:ext cx="1947539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interaction metric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7062064"/>
            <a:ext cx="8072096" cy="1519546"/>
          </a:xfrm>
          <a:custGeom>
            <a:avLst/>
            <a:gdLst/>
            <a:ahLst/>
            <a:cxnLst/>
            <a:rect r="r" b="b" t="t" l="l"/>
            <a:pathLst>
              <a:path h="1519546" w="8072096">
                <a:moveTo>
                  <a:pt x="0" y="0"/>
                </a:moveTo>
                <a:lnTo>
                  <a:pt x="8072096" y="0"/>
                </a:lnTo>
                <a:lnTo>
                  <a:pt x="807209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92936" y="7539789"/>
            <a:ext cx="1257197" cy="62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666" spc="-139" b="true">
                <a:solidFill>
                  <a:srgbClr val="0DB849"/>
                </a:solidFill>
                <a:latin typeface="Roboto Bold"/>
                <a:ea typeface="Roboto Bold"/>
                <a:cs typeface="Roboto Bold"/>
                <a:sym typeface="Roboto Bold"/>
              </a:rPr>
              <a:t>BPM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259464" y="7280704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741037" y="7463385"/>
            <a:ext cx="94313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31686" y="7870028"/>
            <a:ext cx="1878244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beats per minute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45330" y="8352038"/>
            <a:ext cx="8072096" cy="1300906"/>
          </a:xfrm>
          <a:custGeom>
            <a:avLst/>
            <a:gdLst/>
            <a:ahLst/>
            <a:cxnLst/>
            <a:rect r="r" b="b" t="t" l="l"/>
            <a:pathLst>
              <a:path h="1300906" w="8072096">
                <a:moveTo>
                  <a:pt x="0" y="0"/>
                </a:moveTo>
                <a:lnTo>
                  <a:pt x="8072096" y="0"/>
                </a:lnTo>
                <a:lnTo>
                  <a:pt x="807209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90578" y="8759717"/>
            <a:ext cx="1492965" cy="62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666" spc="-139" b="true">
                <a:solidFill>
                  <a:srgbClr val="0DB849"/>
                </a:solidFill>
                <a:latin typeface="Roboto Bold"/>
                <a:ea typeface="Roboto Bold"/>
                <a:cs typeface="Roboto Bold"/>
                <a:sym typeface="Roboto Bold"/>
              </a:rPr>
              <a:t>Traits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259464" y="8570678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722402" y="8683313"/>
            <a:ext cx="280669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Acoustic Audio Traits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3780" y="9074895"/>
            <a:ext cx="4668833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danceability, energy, valence, acoustness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487732" y="0"/>
            <a:ext cx="9800268" cy="10287000"/>
          </a:xfrm>
          <a:custGeom>
            <a:avLst/>
            <a:gdLst/>
            <a:ahLst/>
            <a:cxnLst/>
            <a:rect r="r" b="b" t="t" l="l"/>
            <a:pathLst>
              <a:path h="10287000" w="9800268">
                <a:moveTo>
                  <a:pt x="0" y="0"/>
                </a:moveTo>
                <a:lnTo>
                  <a:pt x="9800268" y="0"/>
                </a:lnTo>
                <a:lnTo>
                  <a:pt x="9800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714411" y="4240365"/>
            <a:ext cx="3605798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dynamic measure of track reach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483" y="253152"/>
            <a:ext cx="4414188" cy="9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spc="-203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1763" y="1141742"/>
            <a:ext cx="5686207" cy="9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spc="-203" b="true">
                <a:solidFill>
                  <a:srgbClr val="10A030"/>
                </a:solidFill>
                <a:latin typeface="Roboto Bold"/>
                <a:ea typeface="Roboto Bold"/>
                <a:cs typeface="Roboto Bold"/>
                <a:sym typeface="Roboto Bold"/>
              </a:rPr>
              <a:t>User 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625" y="2168428"/>
            <a:ext cx="8117086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-108">
                <a:solidFill>
                  <a:srgbClr val="FFFFFF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 real-time view of track performance and audience insights.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7818" y="2569017"/>
            <a:ext cx="17872364" cy="7510275"/>
          </a:xfrm>
          <a:custGeom>
            <a:avLst/>
            <a:gdLst/>
            <a:ahLst/>
            <a:cxnLst/>
            <a:rect r="r" b="b" t="t" l="l"/>
            <a:pathLst>
              <a:path h="7510275" w="17872364">
                <a:moveTo>
                  <a:pt x="0" y="0"/>
                </a:moveTo>
                <a:lnTo>
                  <a:pt x="17872364" y="0"/>
                </a:lnTo>
                <a:lnTo>
                  <a:pt x="1787236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4066699"/>
            <a:ext cx="2625072" cy="655919"/>
          </a:xfrm>
          <a:custGeom>
            <a:avLst/>
            <a:gdLst/>
            <a:ahLst/>
            <a:cxnLst/>
            <a:rect r="r" b="b" t="t" l="l"/>
            <a:pathLst>
              <a:path h="655919" w="2625072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4493047"/>
            <a:ext cx="2625072" cy="655919"/>
          </a:xfrm>
          <a:custGeom>
            <a:avLst/>
            <a:gdLst/>
            <a:ahLst/>
            <a:cxnLst/>
            <a:rect r="r" b="b" t="t" l="l"/>
            <a:pathLst>
              <a:path h="655919" w="2625072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7818" y="5990729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21952" y="5990729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21952" y="642800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21952" y="685435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21952" y="728070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21952" y="770705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21952" y="8133399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821952" y="857067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21952" y="899702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98842" y="2776725"/>
            <a:ext cx="3062584" cy="655919"/>
          </a:xfrm>
          <a:custGeom>
            <a:avLst/>
            <a:gdLst/>
            <a:ahLst/>
            <a:cxnLst/>
            <a:rect r="r" b="b" t="t" l="l"/>
            <a:pathLst>
              <a:path h="655919" w="3062584">
                <a:moveTo>
                  <a:pt x="0" y="0"/>
                </a:moveTo>
                <a:lnTo>
                  <a:pt x="3062584" y="0"/>
                </a:lnTo>
                <a:lnTo>
                  <a:pt x="306258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17598" y="2995365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696976" y="3640352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164483" y="3951841"/>
            <a:ext cx="2379053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14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Cruel Summer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75547" y="4494725"/>
            <a:ext cx="1272610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10A030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Taylor Swift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092354" y="513803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346710" y="5399173"/>
            <a:ext cx="229795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92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95698" y="5399173"/>
            <a:ext cx="872419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Popularity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04065" y="6268043"/>
            <a:ext cx="339276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86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Country-Wise Listener Distribution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217330" y="7062064"/>
            <a:ext cx="4145426" cy="448211"/>
          </a:xfrm>
          <a:custGeom>
            <a:avLst/>
            <a:gdLst/>
            <a:ahLst/>
            <a:cxnLst/>
            <a:rect r="r" b="b" t="t" l="l"/>
            <a:pathLst>
              <a:path h="448211" w="4145426">
                <a:moveTo>
                  <a:pt x="0" y="0"/>
                </a:moveTo>
                <a:lnTo>
                  <a:pt x="4145426" y="0"/>
                </a:lnTo>
                <a:lnTo>
                  <a:pt x="414542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17330" y="7499343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934389" y="7915210"/>
            <a:ext cx="360303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56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Brazil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217330" y="7707051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217330" y="8133399"/>
            <a:ext cx="1750048" cy="448211"/>
          </a:xfrm>
          <a:custGeom>
            <a:avLst/>
            <a:gdLst/>
            <a:ahLst/>
            <a:cxnLst/>
            <a:rect r="r" b="b" t="t" l="l"/>
            <a:pathLst>
              <a:path h="448211" w="1750048">
                <a:moveTo>
                  <a:pt x="0" y="0"/>
                </a:moveTo>
                <a:lnTo>
                  <a:pt x="1750048" y="0"/>
                </a:lnTo>
                <a:lnTo>
                  <a:pt x="175004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217330" y="8570678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932900" y="9014651"/>
            <a:ext cx="509217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4" spc="-56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Canada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217330" y="8997026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217330" y="9204733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445598" y="3421712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459221" y="5004497"/>
            <a:ext cx="1530280" cy="59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4447" spc="-221" b="true">
                <a:solidFill>
                  <a:srgbClr val="10A030"/>
                </a:solidFill>
                <a:latin typeface="Roboto Bold"/>
                <a:ea typeface="Roboto Bold"/>
                <a:cs typeface="Roboto Bold"/>
                <a:sym typeface="Roboto Bold"/>
              </a:rPr>
              <a:t>1.28M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840976" y="3421712"/>
            <a:ext cx="2625072" cy="2579949"/>
          </a:xfrm>
          <a:custGeom>
            <a:avLst/>
            <a:gdLst/>
            <a:ahLst/>
            <a:cxnLst/>
            <a:rect r="r" b="b" t="t" l="l"/>
            <a:pathLst>
              <a:path h="2579949" w="2625072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141577" y="5004497"/>
            <a:ext cx="1185292" cy="59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4447" spc="-221" b="true">
                <a:solidFill>
                  <a:srgbClr val="10A030"/>
                </a:solidFill>
                <a:latin typeface="Roboto Bold"/>
                <a:ea typeface="Roboto Bold"/>
                <a:cs typeface="Roboto Bold"/>
                <a:sym typeface="Roboto Bold"/>
              </a:rPr>
              <a:t>78%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5455110" y="3421712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823902" y="5025694"/>
            <a:ext cx="843417" cy="54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183" spc="-208" b="true">
                <a:solidFill>
                  <a:srgbClr val="10A030"/>
                </a:solidFill>
                <a:latin typeface="Roboto Bold"/>
                <a:ea typeface="Roboto Bold"/>
                <a:cs typeface="Roboto Bold"/>
                <a:sym typeface="Roboto Bold"/>
              </a:rPr>
              <a:t>172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3696976" y="5990729"/>
            <a:ext cx="6759560" cy="4088563"/>
          </a:xfrm>
          <a:custGeom>
            <a:avLst/>
            <a:gdLst/>
            <a:ahLst/>
            <a:cxnLst/>
            <a:rect r="r" b="b" t="t" l="l"/>
            <a:pathLst>
              <a:path h="4088563" w="6759560">
                <a:moveTo>
                  <a:pt x="0" y="0"/>
                </a:moveTo>
                <a:lnTo>
                  <a:pt x="6759560" y="0"/>
                </a:lnTo>
                <a:lnTo>
                  <a:pt x="675956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445598" y="5990729"/>
            <a:ext cx="7415828" cy="4088563"/>
          </a:xfrm>
          <a:custGeom>
            <a:avLst/>
            <a:gdLst/>
            <a:ahLst/>
            <a:cxnLst/>
            <a:rect r="r" b="b" t="t" l="l"/>
            <a:pathLst>
              <a:path h="4088563" w="7415828">
                <a:moveTo>
                  <a:pt x="0" y="0"/>
                </a:moveTo>
                <a:lnTo>
                  <a:pt x="7415828" y="0"/>
                </a:lnTo>
                <a:lnTo>
                  <a:pt x="741582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0714612" y="6268043"/>
            <a:ext cx="278019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86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Audio Characteristics Profile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2403464" y="7062064"/>
            <a:ext cx="3062584" cy="2590881"/>
          </a:xfrm>
          <a:custGeom>
            <a:avLst/>
            <a:gdLst/>
            <a:ahLst/>
            <a:cxnLst/>
            <a:rect r="r" b="b" t="t" l="l"/>
            <a:pathLst>
              <a:path h="2590881" w="3062584">
                <a:moveTo>
                  <a:pt x="0" y="0"/>
                </a:moveTo>
                <a:lnTo>
                  <a:pt x="3062584" y="0"/>
                </a:lnTo>
                <a:lnTo>
                  <a:pt x="306258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3530027" y="6860951"/>
            <a:ext cx="808072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56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Danceability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23680" y="2996774"/>
            <a:ext cx="433982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-108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Track Performance Dashboard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5132" y="3019560"/>
            <a:ext cx="2459500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1494" spc="-74">
                <a:solidFill>
                  <a:srgbClr val="10A030"/>
                </a:solidFill>
                <a:latin typeface="Roboto Bold"/>
                <a:ea typeface="Roboto Bold"/>
                <a:cs typeface="Roboto Bold"/>
                <a:sym typeface="Roboto Bold"/>
              </a:rPr>
              <a:t>TRACK TRENDS ANALYSER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323977" y="3049681"/>
            <a:ext cx="2615612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10A030"/>
                </a:solidFill>
                <a:latin typeface="Roboto Bold"/>
                <a:ea typeface="Roboto Bold"/>
                <a:cs typeface="Roboto Bold"/>
                <a:sym typeface="Roboto Bold"/>
              </a:rPr>
              <a:t>Connected to Spotify Web API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3590" y="3727419"/>
            <a:ext cx="613695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Search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57567" y="4058758"/>
            <a:ext cx="1695657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Estimated Listeners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44164" y="4058758"/>
            <a:ext cx="926587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Total Likes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826136" y="4058758"/>
            <a:ext cx="619962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Tempo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61284" y="4239711"/>
            <a:ext cx="844252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Taylor Swift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58314" y="4375035"/>
            <a:ext cx="1620952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Real-time Estimate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41655" y="4375035"/>
            <a:ext cx="1177497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Favorite Ratio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828211" y="4375035"/>
            <a:ext cx="412464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BPM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81574" y="4811800"/>
            <a:ext cx="613695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Search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83346" y="4902165"/>
            <a:ext cx="492734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Lover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59798" y="5655207"/>
            <a:ext cx="992891" cy="1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74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Live Tracks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59538" y="6167499"/>
            <a:ext cx="1018884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Cruel Summer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63273" y="6559734"/>
            <a:ext cx="645376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Anti-Hero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21420" y="6589856"/>
            <a:ext cx="2099379" cy="18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63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Track audio feature overview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51173" y="7011559"/>
            <a:ext cx="1855331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4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All Too Well (10 Min Version)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61638" y="7403141"/>
            <a:ext cx="808815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Blank Space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442054" y="7538689"/>
            <a:ext cx="466596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56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Energy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63373" y="7613993"/>
            <a:ext cx="583411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56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Liveness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62129" y="7839905"/>
            <a:ext cx="759743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4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Shake It Off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66437" y="8261609"/>
            <a:ext cx="328951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Style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62689" y="8683313"/>
            <a:ext cx="703710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Love Story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407032" y="8879103"/>
            <a:ext cx="536641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56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Valence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303682" y="8939347"/>
            <a:ext cx="1135246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56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Instrumentalness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59332" y="9089955"/>
            <a:ext cx="1039408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56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Wildest Dreams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542626" y="9586963"/>
            <a:ext cx="782874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56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Acoustness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441" y="502243"/>
            <a:ext cx="7444221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32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Visualizations &amp;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552" y="1616746"/>
            <a:ext cx="10033078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329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Analytics Breakdown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1542230" cy="448211"/>
          </a:xfrm>
          <a:custGeom>
            <a:avLst/>
            <a:gdLst/>
            <a:ahLst/>
            <a:cxnLst/>
            <a:rect r="r" b="b" t="t" l="l"/>
            <a:pathLst>
              <a:path h="448211" w="1542230">
                <a:moveTo>
                  <a:pt x="0" y="0"/>
                </a:moveTo>
                <a:lnTo>
                  <a:pt x="1542230" y="0"/>
                </a:lnTo>
                <a:lnTo>
                  <a:pt x="154223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0077" y="3427080"/>
            <a:ext cx="6680534" cy="7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10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Key dashboard visuals that reveal track </a:t>
            </a:r>
            <a:r>
              <a:rPr lang="en-US" sz="2575" spc="-103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mood</a:t>
            </a:r>
            <a:r>
              <a:rPr lang="en-US" sz="2575" spc="-10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 and </a:t>
            </a:r>
            <a:r>
              <a:rPr lang="en-US" sz="2575" spc="-103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audience reach.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285339"/>
            <a:ext cx="8290852" cy="4503979"/>
          </a:xfrm>
          <a:custGeom>
            <a:avLst/>
            <a:gdLst/>
            <a:ahLst/>
            <a:cxnLst/>
            <a:rect r="r" b="b" t="t" l="l"/>
            <a:pathLst>
              <a:path h="4503979" w="8290852">
                <a:moveTo>
                  <a:pt x="0" y="0"/>
                </a:moveTo>
                <a:lnTo>
                  <a:pt x="8290852" y="0"/>
                </a:lnTo>
                <a:lnTo>
                  <a:pt x="8290852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1562" y="4801271"/>
            <a:ext cx="2893219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92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Audio Characteristics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992" y="6070527"/>
            <a:ext cx="2357021" cy="105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84" spc="-7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Summarizes the track's key audio attributes to reveal its overall mood.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79818" y="4919394"/>
            <a:ext cx="2843828" cy="3224936"/>
          </a:xfrm>
          <a:custGeom>
            <a:avLst/>
            <a:gdLst/>
            <a:ahLst/>
            <a:cxnLst/>
            <a:rect r="r" b="b" t="t" l="l"/>
            <a:pathLst>
              <a:path h="3224936" w="2843828">
                <a:moveTo>
                  <a:pt x="0" y="0"/>
                </a:moveTo>
                <a:lnTo>
                  <a:pt x="2843828" y="0"/>
                </a:lnTo>
                <a:lnTo>
                  <a:pt x="284382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285339"/>
            <a:ext cx="8498670" cy="4503979"/>
          </a:xfrm>
          <a:custGeom>
            <a:avLst/>
            <a:gdLst/>
            <a:ahLst/>
            <a:cxnLst/>
            <a:rect r="r" b="b" t="t" l="l"/>
            <a:pathLst>
              <a:path h="4503979" w="8498670">
                <a:moveTo>
                  <a:pt x="0" y="0"/>
                </a:moveTo>
                <a:lnTo>
                  <a:pt x="8498670" y="0"/>
                </a:lnTo>
                <a:lnTo>
                  <a:pt x="8498670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36906" y="4801271"/>
            <a:ext cx="2893219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92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Listener Distribution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6376" y="6070454"/>
            <a:ext cx="2052987" cy="141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Shows where listeners are coming from to highlight regional popularity.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059732" y="4919394"/>
            <a:ext cx="4145426" cy="448211"/>
          </a:xfrm>
          <a:custGeom>
            <a:avLst/>
            <a:gdLst/>
            <a:ahLst/>
            <a:cxnLst/>
            <a:rect r="r" b="b" t="t" l="l"/>
            <a:pathLst>
              <a:path h="448211" w="4145426">
                <a:moveTo>
                  <a:pt x="0" y="0"/>
                </a:moveTo>
                <a:lnTo>
                  <a:pt x="4145426" y="0"/>
                </a:lnTo>
                <a:lnTo>
                  <a:pt x="414542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59732" y="5356674"/>
            <a:ext cx="3270402" cy="437279"/>
          </a:xfrm>
          <a:custGeom>
            <a:avLst/>
            <a:gdLst/>
            <a:ahLst/>
            <a:cxnLst/>
            <a:rect r="r" b="b" t="t" l="l"/>
            <a:pathLst>
              <a:path h="437279" w="3270402">
                <a:moveTo>
                  <a:pt x="0" y="0"/>
                </a:moveTo>
                <a:lnTo>
                  <a:pt x="3270402" y="0"/>
                </a:lnTo>
                <a:lnTo>
                  <a:pt x="327040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059732" y="5990729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59732" y="6428009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59732" y="6854356"/>
            <a:ext cx="1312536" cy="655919"/>
          </a:xfrm>
          <a:custGeom>
            <a:avLst/>
            <a:gdLst/>
            <a:ahLst/>
            <a:cxnLst/>
            <a:rect r="r" b="b" t="t" l="l"/>
            <a:pathLst>
              <a:path h="655919" w="1312536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9732" y="7499343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5330" y="8778386"/>
            <a:ext cx="16997340" cy="1082267"/>
          </a:xfrm>
          <a:custGeom>
            <a:avLst/>
            <a:gdLst/>
            <a:ahLst/>
            <a:cxnLst/>
            <a:rect r="r" b="b" t="t" l="l"/>
            <a:pathLst>
              <a:path h="1082267" w="16997340">
                <a:moveTo>
                  <a:pt x="0" y="0"/>
                </a:moveTo>
                <a:lnTo>
                  <a:pt x="16997340" y="0"/>
                </a:lnTo>
                <a:lnTo>
                  <a:pt x="1699734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77065" y="9164453"/>
            <a:ext cx="5890379" cy="37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7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Radar chart captures how the track </a:t>
            </a:r>
            <a:r>
              <a:rPr lang="en-US" sz="1986" spc="-79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sounds and feels.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925244" y="8997026"/>
            <a:ext cx="218756" cy="655919"/>
          </a:xfrm>
          <a:custGeom>
            <a:avLst/>
            <a:gdLst/>
            <a:ahLst/>
            <a:cxnLst/>
            <a:rect r="r" b="b" t="t" l="l"/>
            <a:pathLst>
              <a:path h="655919" w="218756">
                <a:moveTo>
                  <a:pt x="0" y="0"/>
                </a:moveTo>
                <a:lnTo>
                  <a:pt x="218756" y="0"/>
                </a:lnTo>
                <a:lnTo>
                  <a:pt x="21875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773257" y="9163704"/>
            <a:ext cx="4952379" cy="37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7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Bar chart shows </a:t>
            </a:r>
            <a:r>
              <a:rPr lang="en-US" sz="1986" spc="-79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who is listening and where.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9641" y="5424635"/>
            <a:ext cx="1192141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69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Radar Chart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94510" y="4737373"/>
            <a:ext cx="1155996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Danceability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85268" y="6484430"/>
            <a:ext cx="1162225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Acoustiness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7483" y="5424635"/>
            <a:ext cx="942309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69" b="true">
                <a:solidFill>
                  <a:srgbClr val="0DCA49"/>
                </a:solidFill>
                <a:latin typeface="Roboto Bold"/>
                <a:ea typeface="Roboto Bold"/>
                <a:cs typeface="Roboto Bold"/>
                <a:sym typeface="Roboto Bold"/>
              </a:rPr>
              <a:t>Bar Chart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81708" y="7629054"/>
            <a:ext cx="1263587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Rest of World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33939" y="7101925"/>
            <a:ext cx="866226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Germany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35383" y="6484430"/>
            <a:ext cx="665567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Energy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912726" y="8261609"/>
            <a:ext cx="765687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Valence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32113" y="6574795"/>
            <a:ext cx="516783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Brazil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86374" y="6047666"/>
            <a:ext cx="448515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6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India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17627" y="8216426"/>
            <a:ext cx="388096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20%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39199" y="8216426"/>
            <a:ext cx="396541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40%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828426" y="8216426"/>
            <a:ext cx="391029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30%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07165" y="8216426"/>
            <a:ext cx="351471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10%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23806" y="8216426"/>
            <a:ext cx="283473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0%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49233" y="5008467"/>
            <a:ext cx="236092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49146" y="5535597"/>
            <a:ext cx="244804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066699"/>
            <a:ext cx="7842402" cy="6220301"/>
          </a:xfrm>
          <a:custGeom>
            <a:avLst/>
            <a:gdLst/>
            <a:ahLst/>
            <a:cxnLst/>
            <a:rect r="r" b="b" t="t" l="l"/>
            <a:pathLst>
              <a:path h="6220301" w="7842402">
                <a:moveTo>
                  <a:pt x="0" y="0"/>
                </a:moveTo>
                <a:lnTo>
                  <a:pt x="7842402" y="0"/>
                </a:lnTo>
                <a:lnTo>
                  <a:pt x="7842402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5635" y="836090"/>
            <a:ext cx="9445837" cy="197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0"/>
              </a:lnSpc>
            </a:pPr>
            <a:r>
              <a:rPr lang="en-US" sz="7354" spc="-21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Technical Challenges &amp; Engineering Solutions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31464" y="2776725"/>
            <a:ext cx="10029962" cy="7083928"/>
          </a:xfrm>
          <a:custGeom>
            <a:avLst/>
            <a:gdLst/>
            <a:ahLst/>
            <a:cxnLst/>
            <a:rect r="r" b="b" t="t" l="l"/>
            <a:pathLst>
              <a:path h="7083928" w="10029962">
                <a:moveTo>
                  <a:pt x="0" y="0"/>
                </a:moveTo>
                <a:lnTo>
                  <a:pt x="10029962" y="0"/>
                </a:lnTo>
                <a:lnTo>
                  <a:pt x="10029962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49389" y="4286959"/>
            <a:ext cx="3558715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Managing asynchronous</a:t>
            </a:r>
          </a:p>
          <a:p>
            <a:pPr algn="l">
              <a:lnSpc>
                <a:spcPts val="3347"/>
              </a:lnSpc>
            </a:pPr>
            <a:r>
              <a:rPr lang="en-US" sz="2575" spc="-76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OAuth 2.0 token lifecycle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8445" y="4286959"/>
            <a:ext cx="4140699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1DB44B"/>
                </a:solidFill>
                <a:latin typeface="Roboto"/>
                <a:ea typeface="Roboto"/>
                <a:cs typeface="Roboto"/>
                <a:sym typeface="Roboto"/>
              </a:rPr>
              <a:t>Automated token refresh ensures uninterrupted access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56249" y="5732800"/>
            <a:ext cx="2872762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Handling Spotify API</a:t>
            </a:r>
          </a:p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rate limits gracefully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72013" y="5732800"/>
            <a:ext cx="2783896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1DB44B"/>
                </a:solidFill>
                <a:latin typeface="Roboto"/>
                <a:ea typeface="Roboto"/>
                <a:cs typeface="Roboto"/>
                <a:sym typeface="Roboto"/>
              </a:rPr>
              <a:t>Smart throttling and</a:t>
            </a:r>
          </a:p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1DB44B"/>
                </a:solidFill>
                <a:latin typeface="Roboto"/>
                <a:ea typeface="Roboto"/>
                <a:cs typeface="Roboto"/>
                <a:sym typeface="Roboto"/>
              </a:rPr>
              <a:t>fallback strategies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47743" y="7178640"/>
            <a:ext cx="3723306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Real-time synchronization</a:t>
            </a:r>
          </a:p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for live dashboard updates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9028" y="7178641"/>
            <a:ext cx="4082385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1DB44B"/>
                </a:solidFill>
                <a:latin typeface="Roboto"/>
                <a:ea typeface="Roboto"/>
                <a:cs typeface="Roboto"/>
                <a:sym typeface="Roboto"/>
              </a:rPr>
              <a:t>Optimized streaming pipeline keeps data in sync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0393" y="8624481"/>
            <a:ext cx="3458354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Restricted endpoints risk downtime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3842" y="8624481"/>
            <a:ext cx="3600931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 b="true">
                <a:solidFill>
                  <a:srgbClr val="1DB44B"/>
                </a:solidFill>
                <a:latin typeface="Roboto Bold"/>
                <a:ea typeface="Roboto Bold"/>
                <a:cs typeface="Roboto Bold"/>
                <a:sym typeface="Roboto Bold"/>
              </a:rPr>
              <a:t>Server fallbacks maintain</a:t>
            </a:r>
          </a:p>
          <a:p>
            <a:pPr algn="l">
              <a:lnSpc>
                <a:spcPts val="3347"/>
              </a:lnSpc>
            </a:pPr>
            <a:r>
              <a:rPr lang="en-US" sz="2575" spc="-76" b="true">
                <a:solidFill>
                  <a:srgbClr val="1DB44B"/>
                </a:solidFill>
                <a:latin typeface="Roboto Bold"/>
                <a:ea typeface="Roboto Bold"/>
                <a:cs typeface="Roboto Bold"/>
                <a:sym typeface="Roboto Bold"/>
              </a:rPr>
              <a:t>100% uptime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84977" y="3308619"/>
            <a:ext cx="4420195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b="true" sz="2321" spc="-69">
                <a:solidFill>
                  <a:srgbClr val="F6F6F6">
                    <a:alpha val="6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CHALLENGE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99852" y="3308619"/>
            <a:ext cx="4420195" cy="38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b="true" sz="2321" spc="-69">
                <a:solidFill>
                  <a:srgbClr val="1DB44B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2350377"/>
            <a:ext cx="8936182" cy="7936623"/>
          </a:xfrm>
          <a:custGeom>
            <a:avLst/>
            <a:gdLst/>
            <a:ahLst/>
            <a:cxnLst/>
            <a:rect r="r" b="b" t="t" l="l"/>
            <a:pathLst>
              <a:path h="7936623" w="8936182">
                <a:moveTo>
                  <a:pt x="0" y="0"/>
                </a:moveTo>
                <a:lnTo>
                  <a:pt x="8936182" y="0"/>
                </a:lnTo>
                <a:lnTo>
                  <a:pt x="8936182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23818" y="2142670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16000" y="342171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78488" y="4285339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40976" y="5564382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61330" y="6635716"/>
            <a:ext cx="229694" cy="1945894"/>
          </a:xfrm>
          <a:custGeom>
            <a:avLst/>
            <a:gdLst/>
            <a:ahLst/>
            <a:cxnLst/>
            <a:rect r="r" b="b" t="t" l="l"/>
            <a:pathLst>
              <a:path h="1945894" w="229694">
                <a:moveTo>
                  <a:pt x="0" y="0"/>
                </a:moveTo>
                <a:lnTo>
                  <a:pt x="229694" y="0"/>
                </a:lnTo>
                <a:lnTo>
                  <a:pt x="22969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3818" y="8133399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7705" y="1278310"/>
            <a:ext cx="6312280" cy="116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8798" spc="-26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 &amp;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1506" y="2453056"/>
            <a:ext cx="7932204" cy="116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8798" spc="-262" b="true">
                <a:solidFill>
                  <a:srgbClr val="06B238"/>
                </a:solidFill>
                <a:latin typeface="Roboto Bold"/>
                <a:ea typeface="Roboto Bold"/>
                <a:cs typeface="Roboto Bold"/>
                <a:sym typeface="Roboto Bold"/>
              </a:rPr>
              <a:t>Future Roadmap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3848060"/>
            <a:ext cx="1750048" cy="448211"/>
          </a:xfrm>
          <a:custGeom>
            <a:avLst/>
            <a:gdLst/>
            <a:ahLst/>
            <a:cxnLst/>
            <a:rect r="r" b="b" t="t" l="l"/>
            <a:pathLst>
              <a:path h="448211" w="1750048">
                <a:moveTo>
                  <a:pt x="0" y="0"/>
                </a:moveTo>
                <a:lnTo>
                  <a:pt x="1750048" y="0"/>
                </a:lnTo>
                <a:lnTo>
                  <a:pt x="175004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9798" y="4559521"/>
            <a:ext cx="7102987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built a live, interactive music analytics dashboard powered by </a:t>
            </a:r>
            <a:r>
              <a:rPr lang="en-US" sz="2896" spc="-86">
                <a:solidFill>
                  <a:srgbClr val="06B238"/>
                </a:solidFill>
                <a:latin typeface="Roboto"/>
                <a:ea typeface="Roboto"/>
                <a:cs typeface="Roboto"/>
                <a:sym typeface="Roboto"/>
              </a:rPr>
              <a:t>real-time Spotify data</a:t>
            </a: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166" y="5884875"/>
            <a:ext cx="7566262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delivers </a:t>
            </a:r>
            <a:r>
              <a:rPr lang="en-US" sz="2896" spc="-86">
                <a:solidFill>
                  <a:srgbClr val="06B238"/>
                </a:solidFill>
                <a:latin typeface="Roboto"/>
                <a:ea typeface="Roboto"/>
                <a:cs typeface="Roboto"/>
                <a:sym typeface="Roboto"/>
              </a:rPr>
              <a:t>timely insights</a:t>
            </a: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into track performance, audience engagement, and global reach.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7605" y="7225290"/>
            <a:ext cx="6322359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Next, we’re expanding with </a:t>
            </a:r>
            <a:r>
              <a:rPr lang="en-US" sz="2896" spc="-86">
                <a:solidFill>
                  <a:srgbClr val="06B238"/>
                </a:solidFill>
                <a:latin typeface="Roboto"/>
                <a:ea typeface="Roboto"/>
                <a:cs typeface="Roboto"/>
                <a:sym typeface="Roboto"/>
              </a:rPr>
              <a:t>live playback</a:t>
            </a: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</a:p>
          <a:p>
            <a:pPr algn="l">
              <a:lnSpc>
                <a:spcPts val="4054"/>
              </a:lnSpc>
            </a:pPr>
            <a:r>
              <a:rPr lang="en-US" sz="2896" spc="-86">
                <a:solidFill>
                  <a:srgbClr val="06B238"/>
                </a:solidFill>
                <a:latin typeface="Roboto"/>
                <a:ea typeface="Roboto"/>
                <a:cs typeface="Roboto"/>
                <a:sym typeface="Roboto"/>
              </a:rPr>
              <a:t>playlist analysis</a:t>
            </a: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2896" spc="-86">
                <a:solidFill>
                  <a:srgbClr val="06B238"/>
                </a:solidFill>
                <a:latin typeface="Roboto"/>
                <a:ea typeface="Roboto"/>
                <a:cs typeface="Roboto"/>
                <a:sym typeface="Roboto"/>
              </a:rPr>
              <a:t>predictive models</a:t>
            </a: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6620" y="8535583"/>
            <a:ext cx="5420859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Questions and feedback welcome.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65058" y="2387004"/>
            <a:ext cx="2066897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Live track previews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58023" y="2838032"/>
            <a:ext cx="2770358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57" b="true">
                <a:solidFill>
                  <a:srgbClr val="FFFFFF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Spotify Web Playback SDK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04797" y="4311170"/>
            <a:ext cx="3321844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6"/>
              </a:lnSpc>
            </a:pPr>
            <a:r>
              <a:rPr lang="en-US" b="true" sz="2254" spc="-6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Playlist batch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01136" y="4856185"/>
            <a:ext cx="2584917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916" spc="-57">
                <a:solidFill>
                  <a:srgbClr val="FFFFFF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Deeper audience 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60773" y="6660661"/>
            <a:ext cx="3000375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Predictive models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41293" y="7205676"/>
            <a:ext cx="1948061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57">
                <a:solidFill>
                  <a:srgbClr val="FFFFFF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Hit-song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DAHX9g4tPf4</dc:identifier>
  <dcterms:modified xsi:type="dcterms:W3CDTF">2011-08-01T06:04:30Z</dcterms:modified>
  <cp:revision>1</cp:revision>
  <dc:title>Track Trends Analyser</dc:title>
</cp:coreProperties>
</file>